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5706e6de-4e36-6626-c06e-ed8e599c8a92}">
          <p14:sldIdLst>
            <p14:sldId id="256"/>
          </p14:sldIdLst>
        </p14:section>
        <p14:section name="Analyse" id="{0af778a2-c162-aa88-5f13-7412ef518d83}">
          <p14:sldIdLst>
            <p14:sldId id="257"/>
            <p14:sldId id="258"/>
            <p14:sldId id="259"/>
            <p14:sldId id="260"/>
          </p14:sldIdLst>
        </p14:section>
        <p14:section name="Conception" id="{d2edd698-bb3d-522d-691a-323c71846539}">
          <p14:sldIdLst>
            <p14:sldId id="261"/>
            <p14:sldId id="262"/>
            <p14:sldId id="263"/>
            <p14:sldId id="264"/>
            <p14:sldId id="265"/>
          </p14:sldIdLst>
        </p14:section>
        <p14:section name="Réalisation" id="{f28def35-2cfe-033b-220e-1eef7f79e6bc}">
          <p14:sldIdLst>
            <p14:sldId id="266"/>
          </p14:sldIdLst>
        </p14:section>
        <p14:section name="Sécurité et tests" id="{23a1afe9-34c8-fb94-426f-227812d2e118}">
          <p14:sldIdLst>
            <p14:sldId id="267"/>
            <p14:sldId id="268"/>
          </p14:sldIdLst>
        </p14:section>
        <p14:section name="Intégration" id="{b9e3e25a-44f4-a7ba-3011-a4d5f4ee8321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Cas de test par catégorie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 de test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6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Fonctionnels</c:v>
                  </c:pt>
                  <c:pt idx="1">
                    <c:v>Validation</c:v>
                  </c:pt>
                  <c:pt idx="2">
                    <c:v>Sécurité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226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D5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F8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module du Groupe 1 : tout ce qui concerne les utilisateurs et la protection de leurs accès dans Event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autres groupes ont besoin de deux choses : un jeton valide sur chaque requête et le rôle de l'utilisateur.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11 récits complets, avec leurs critères d'acceptation, sont dans le rapport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rapport détaille la menace, la contre-mesure et la classe du code concernée pour onze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Event Manager · Groupe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circle"/>
          <p:cNvSpPr/>
          <p:nvPr/>
        </p:nvSpPr>
        <p:spPr>
          <a:xfrm>
            <a:off x="6400800" y="1097280"/>
            <a:ext cx="2194560" cy="21945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" name="hero-icon" descr="Bouclier utilis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AE2D"/>
                </a:solidFill>
              </a:rPr>
              <a:t>PROJET EVENT MANAGER · GROUPE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utilisateurs, authentification et sécurité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6"/>
                </a:solidFill>
              </a:rPr>
              <a:t>Génie Logiciel · ICT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KAGHO Marie Edgard · ADAMOU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Professeur responsable : M. ATANGANA Guy Martial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Notre rôle dans Event Manager</a:t>
            </a:r>
            <a:endParaRPr lang="en-US" sz="2800" dirty="0"/>
          </a:p>
        </p:txBody>
      </p:sp>
      <p:sp>
        <p:nvSpPr>
          <p:cNvPr id="3" name="card-Authentifier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-bg-Authentifier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5" name="ic-Authentifier" descr="Authentif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6187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Authentifier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Savoir qui fait la requête : inscription, connexion, connexion sociale.</a:t>
            </a:r>
            <a:endParaRPr lang="en-US" sz="1200" dirty="0"/>
          </a:p>
        </p:txBody>
      </p:sp>
      <p:sp>
        <p:nvSpPr>
          <p:cNvPr id="8" name="card-Autoriser"/>
          <p:cNvSpPr/>
          <p:nvPr/>
        </p:nvSpPr>
        <p:spPr>
          <a:xfrm>
            <a:off x="326898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-bg-Autoriser"/>
          <p:cNvSpPr/>
          <p:nvPr/>
        </p:nvSpPr>
        <p:spPr>
          <a:xfrm>
            <a:off x="345186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0" name="ic-Autoriser" descr="Autori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13807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18788" y="126187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Autoriser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51860" y="1847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Savoir ce que la personne a le droit de faire : rôles USER, ORGANIZER, ADMIN.</a:t>
            </a:r>
            <a:endParaRPr lang="en-US" sz="1200" dirty="0"/>
          </a:p>
        </p:txBody>
      </p:sp>
      <p:sp>
        <p:nvSpPr>
          <p:cNvPr id="13" name="card-Protéger"/>
          <p:cNvSpPr/>
          <p:nvPr/>
        </p:nvSpPr>
        <p:spPr>
          <a:xfrm>
            <a:off x="608076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-bg-Protéger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5" name="ic-Protéger" descr="Protég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3807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30568" y="126187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Protéger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847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Défendre les comptes et les données personnelles contre les attaques courantes.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F7A"/>
                </a:solidFill>
              </a:rPr>
              <a:t>Notre démarche</a:t>
            </a:r>
            <a:endParaRPr lang="en-US" sz="1600" dirty="0"/>
          </a:p>
        </p:txBody>
      </p:sp>
      <p:sp>
        <p:nvSpPr>
          <p:cNvPr id="19" name="step-1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Besoins</a:t>
            </a:r>
            <a:endParaRPr lang="en-US" sz="1200" dirty="0"/>
          </a:p>
        </p:txBody>
      </p:sp>
      <p:sp>
        <p:nvSpPr>
          <p:cNvPr id="22" name="step-2"/>
          <p:cNvSpPr/>
          <p:nvPr/>
        </p:nvSpPr>
        <p:spPr>
          <a:xfrm>
            <a:off x="1847088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84708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847088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Modèles</a:t>
            </a:r>
            <a:endParaRPr lang="en-US" sz="1200" dirty="0"/>
          </a:p>
        </p:txBody>
      </p:sp>
      <p:sp>
        <p:nvSpPr>
          <p:cNvPr id="25" name="step-3"/>
          <p:cNvSpPr/>
          <p:nvPr/>
        </p:nvSpPr>
        <p:spPr>
          <a:xfrm>
            <a:off x="3236976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236976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3236976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Fonctionnalités</a:t>
            </a:r>
            <a:endParaRPr lang="en-US" sz="1200" dirty="0"/>
          </a:p>
        </p:txBody>
      </p:sp>
      <p:sp>
        <p:nvSpPr>
          <p:cNvPr id="28" name="step-4"/>
          <p:cNvSpPr/>
          <p:nvPr/>
        </p:nvSpPr>
        <p:spPr>
          <a:xfrm>
            <a:off x="4626864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62686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4626864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Sécurité</a:t>
            </a:r>
            <a:endParaRPr lang="en-US" sz="1200" dirty="0"/>
          </a:p>
        </p:txBody>
      </p:sp>
      <p:sp>
        <p:nvSpPr>
          <p:cNvPr id="31" name="step-5"/>
          <p:cNvSpPr/>
          <p:nvPr/>
        </p:nvSpPr>
        <p:spPr>
          <a:xfrm>
            <a:off x="6016752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01675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016752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Tests</a:t>
            </a:r>
            <a:endParaRPr lang="en-US" sz="1200" dirty="0"/>
          </a:p>
        </p:txBody>
      </p:sp>
      <p:sp>
        <p:nvSpPr>
          <p:cNvPr id="34" name="step-6"/>
          <p:cNvSpPr/>
          <p:nvPr/>
        </p:nvSpPr>
        <p:spPr>
          <a:xfrm>
            <a:off x="7406640" y="33832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406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740664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63A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Acteurs et exigences</a:t>
            </a:r>
            <a:endParaRPr lang="en-US" sz="2800" dirty="0"/>
          </a:p>
        </p:txBody>
      </p:sp>
      <p:sp>
        <p:nvSpPr>
          <p:cNvPr id="3" name="actor-0"/>
          <p:cNvSpPr/>
          <p:nvPr/>
        </p:nvSpPr>
        <p:spPr>
          <a:xfrm>
            <a:off x="457200" y="109728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Visiteur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S'inscrit, se connecte</a:t>
            </a:r>
            <a:endParaRPr lang="en-US" sz="1400" dirty="0"/>
          </a:p>
        </p:txBody>
      </p:sp>
      <p:sp>
        <p:nvSpPr>
          <p:cNvPr id="5" name="actor-1"/>
          <p:cNvSpPr/>
          <p:nvPr/>
        </p:nvSpPr>
        <p:spPr>
          <a:xfrm>
            <a:off x="457200" y="1993392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Utilisateur / Organisateur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Gère son profil et ses sessions</a:t>
            </a:r>
            <a:endParaRPr lang="en-US" sz="1400" dirty="0"/>
          </a:p>
        </p:txBody>
      </p:sp>
      <p:sp>
        <p:nvSpPr>
          <p:cNvPr id="7" name="actor-2"/>
          <p:cNvSpPr/>
          <p:nvPr/>
        </p:nvSpPr>
        <p:spPr>
          <a:xfrm>
            <a:off x="457200" y="2889504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8950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Administrateur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Liste les utilisateurs</a:t>
            </a:r>
            <a:endParaRPr lang="en-US" sz="1400" dirty="0"/>
          </a:p>
        </p:txBody>
      </p:sp>
      <p:sp>
        <p:nvSpPr>
          <p:cNvPr id="9" name="actor-3"/>
          <p:cNvSpPr/>
          <p:nvPr/>
        </p:nvSpPr>
        <p:spPr>
          <a:xfrm>
            <a:off x="457200" y="3785616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8561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Fournisseur OAuth2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Google, GitHub, Spotify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097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exigences fonctionnelles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097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exigences non fonctionnelles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cas d'utilisation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récits utilisateurs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Diagramme de cas d'utilisation</a:t>
            </a:r>
            <a:endParaRPr lang="en-US" sz="2800" dirty="0"/>
          </a:p>
        </p:txBody>
      </p:sp>
      <p:pic>
        <p:nvPicPr>
          <p:cNvPr id="3" name="Diagramme de cas d'utilisation" descr="Diagramme de cas d'utili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84" y="1051560"/>
            <a:ext cx="5886433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Récits utilisateurs (extraits)</a:t>
            </a:r>
            <a:endParaRPr lang="en-US" sz="2800" dirty="0"/>
          </a:p>
        </p:txBody>
      </p:sp>
      <p:sp>
        <p:nvSpPr>
          <p:cNvPr id="3" name="card-US1 · Inscription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-bg-US1 · Inscription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5" name="ic-US1 · Inscription" descr="US1 · Inscri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618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US1 · Inscription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En tant que visiteur, je veux créer un compte afin de participer aux événements.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6F7A"/>
                </a:solidFill>
              </a:rPr>
              <a:t>Critère : Compte créé (201), email unique, mot de passe robuste.</a:t>
            </a:r>
            <a:endParaRPr lang="en-US" sz="1200" dirty="0"/>
          </a:p>
        </p:txBody>
      </p:sp>
      <p:sp>
        <p:nvSpPr>
          <p:cNvPr id="8" name="card-US3 · Connexion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-bg-US3 · Connexion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0" name="ic-US3 · Connexion" descr="US3 · Connex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3807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3248" y="12618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US3 · Connexion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En tant qu'utilisateur, je veux me connecter avec mon email et mon mot de passe.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6F7A"/>
                </a:solidFill>
              </a:rPr>
              <a:t>Critère : Jeton d'accès de 15 min, message d'erreur identique.</a:t>
            </a:r>
            <a:endParaRPr lang="en-US" sz="1200" dirty="0"/>
          </a:p>
        </p:txBody>
      </p:sp>
      <p:sp>
        <p:nvSpPr>
          <p:cNvPr id="13" name="card-US5 · Session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-bg-US5 · Session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5" name="ic-US5 · Session" descr="US5 · S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2095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07008" y="3090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US5 · Session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En tant qu'utilisateur, je veux rester connecté sans ressaisir mon mot de passe.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6F7A"/>
                </a:solidFill>
              </a:rPr>
              <a:t>Critère : Nouveau couple de jetons, l'ancien est révoqué.</a:t>
            </a:r>
            <a:endParaRPr lang="en-US" sz="1200" dirty="0"/>
          </a:p>
        </p:txBody>
      </p:sp>
      <p:sp>
        <p:nvSpPr>
          <p:cNvPr id="18" name="card-US9 · Protection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-bg-US9 · Protection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20" name="ic-US9 · Protection" descr="US9 · Prote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20954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3248" y="3090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US9 · Protection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En tant que propriétaire, je veux bloquer les essais répétés.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6F7A"/>
                </a:solidFill>
              </a:rPr>
              <a:t>Critère : 5 échecs : compte verrouillé 15 minutes (423).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Architecture en couches</a:t>
            </a:r>
            <a:endParaRPr lang="en-US" sz="2800" dirty="0"/>
          </a:p>
        </p:txBody>
      </p:sp>
      <p:sp>
        <p:nvSpPr>
          <p:cNvPr id="3" name="layer-0"/>
          <p:cNvSpPr/>
          <p:nvPr/>
        </p:nvSpPr>
        <p:spPr>
          <a:xfrm>
            <a:off x="45720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6B7F8E"/>
          </a:solidFill>
          <a:ln w="12700">
            <a:solidFill>
              <a:srgbClr val="6B7F8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layer-ic-0" descr="Cl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Mobile, web ou autre module</a:t>
            </a:r>
            <a:endParaRPr lang="en-US" sz="1100" dirty="0"/>
          </a:p>
        </p:txBody>
      </p:sp>
      <p:sp>
        <p:nvSpPr>
          <p:cNvPr id="7" name="arrow-0"/>
          <p:cNvSpPr/>
          <p:nvPr/>
        </p:nvSpPr>
        <p:spPr>
          <a:xfrm>
            <a:off x="1947672" y="2304288"/>
            <a:ext cx="182880" cy="237744"/>
          </a:xfrm>
          <a:prstGeom prst="rightArrow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layer-1"/>
          <p:cNvSpPr/>
          <p:nvPr/>
        </p:nvSpPr>
        <p:spPr>
          <a:xfrm>
            <a:off x="214884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layer-ic-1" descr="Sécuri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4028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Sécurité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JwtAuthFilter, SecurityConfig</a:t>
            </a:r>
            <a:endParaRPr lang="en-US" sz="1100" dirty="0"/>
          </a:p>
        </p:txBody>
      </p:sp>
      <p:sp>
        <p:nvSpPr>
          <p:cNvPr id="12" name="arrow-1"/>
          <p:cNvSpPr/>
          <p:nvPr/>
        </p:nvSpPr>
        <p:spPr>
          <a:xfrm>
            <a:off x="3639312" y="2304288"/>
            <a:ext cx="182880" cy="237744"/>
          </a:xfrm>
          <a:prstGeom prst="rightArrow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3" name="layer-2"/>
          <p:cNvSpPr/>
          <p:nvPr/>
        </p:nvSpPr>
        <p:spPr>
          <a:xfrm>
            <a:off x="384048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layer-ic-2" descr="Contrôleu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Contrôleurs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93192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AuthController, UserController</a:t>
            </a:r>
            <a:endParaRPr lang="en-US" sz="1100" dirty="0"/>
          </a:p>
        </p:txBody>
      </p:sp>
      <p:sp>
        <p:nvSpPr>
          <p:cNvPr id="17" name="arrow-2"/>
          <p:cNvSpPr/>
          <p:nvPr/>
        </p:nvSpPr>
        <p:spPr>
          <a:xfrm>
            <a:off x="5330952" y="2304288"/>
            <a:ext cx="182880" cy="237744"/>
          </a:xfrm>
          <a:prstGeom prst="rightArrow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layer-3"/>
          <p:cNvSpPr/>
          <p:nvPr/>
        </p:nvSpPr>
        <p:spPr>
          <a:xfrm>
            <a:off x="553212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layer-ic-3" descr="Servic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373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62356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AuthService, UserService</a:t>
            </a:r>
            <a:endParaRPr lang="en-US" sz="1100" dirty="0"/>
          </a:p>
        </p:txBody>
      </p:sp>
      <p:sp>
        <p:nvSpPr>
          <p:cNvPr id="22" name="arrow-3"/>
          <p:cNvSpPr/>
          <p:nvPr/>
        </p:nvSpPr>
        <p:spPr>
          <a:xfrm>
            <a:off x="7022592" y="2304288"/>
            <a:ext cx="182880" cy="237744"/>
          </a:xfrm>
          <a:prstGeom prst="rightArrow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3" name="layer-4"/>
          <p:cNvSpPr/>
          <p:nvPr/>
        </p:nvSpPr>
        <p:spPr>
          <a:xfrm>
            <a:off x="722376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layer-ic-4" descr="Dépô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373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1520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Dépôts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Data JPA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</a:rPr>
              <a:t>Les DTO sont séparés des entités ; les erreurs passent par un gestionnaire global qui ne révèle aucun détail interne.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Diagramme de classes</a:t>
            </a:r>
            <a:endParaRPr lang="en-US" sz="2800" dirty="0"/>
          </a:p>
        </p:txBody>
      </p:sp>
      <p:pic>
        <p:nvPicPr>
          <p:cNvPr id="3" name="Diagramme de classes" descr="Diagramme de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248" y="1051560"/>
            <a:ext cx="4759183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55080" y="1188720"/>
            <a:ext cx="2331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User implémente UserDetails : il sert directement de principal Spring Security.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RefreshToken ne contient que le hachage du jeton.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Les services portent les règles métier ; les contrôleurs restent fins.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Role : USER, ORGANIZER, ADMIN.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Modèle de données</a:t>
            </a:r>
            <a:endParaRPr lang="en-US" sz="2800" dirty="0"/>
          </a:p>
        </p:txBody>
      </p:sp>
      <p:pic>
        <p:nvPicPr>
          <p:cNvPr id="3" name="Modèle entité-association" descr="Modèle entité-assoc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" y="1005840"/>
            <a:ext cx="2358390" cy="3703320"/>
          </a:xfrm>
          <a:prstGeom prst="rect">
            <a:avLst/>
          </a:prstGeom>
        </p:spPr>
      </p:pic>
      <p:sp>
        <p:nvSpPr>
          <p:cNvPr id="4" name="card-users"/>
          <p:cNvSpPr/>
          <p:nvPr/>
        </p:nvSpPr>
        <p:spPr>
          <a:xfrm>
            <a:off x="3566160" y="1097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c-bg-users"/>
          <p:cNvSpPr/>
          <p:nvPr/>
        </p:nvSpPr>
        <p:spPr>
          <a:xfrm>
            <a:off x="374904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6" name="ic-users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138074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15968" y="126187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users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749040" y="18470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Email unique, mot de passe haché (nul pour OAuth), rôle, fournisseur, compteur d'échecs, date de verrouillage.</a:t>
            </a:r>
            <a:endParaRPr lang="en-US" sz="1200" dirty="0"/>
          </a:p>
        </p:txBody>
      </p:sp>
      <p:sp>
        <p:nvSpPr>
          <p:cNvPr id="9" name="card-refresh_tokens"/>
          <p:cNvSpPr/>
          <p:nvPr/>
        </p:nvSpPr>
        <p:spPr>
          <a:xfrm>
            <a:off x="6217920" y="1097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-bg-refresh_tokens"/>
          <p:cNvSpPr/>
          <p:nvPr/>
        </p:nvSpPr>
        <p:spPr>
          <a:xfrm>
            <a:off x="640080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1" name="ic-refresh_tokens" descr="refresh_tok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38074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67728" y="126187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refresh_tokens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18470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Hachage SHA-256 unique, expiration, indicateur de révocation, lien vers l'utilisateur.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66160" y="31089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Un utilisateur possède plusieurs jetons de rafraîchissement.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Aucun secret en clair n'est stocké.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Séquence : connexion</a:t>
            </a:r>
            <a:endParaRPr lang="en-US" sz="2800" dirty="0"/>
          </a:p>
        </p:txBody>
      </p:sp>
      <p:pic>
        <p:nvPicPr>
          <p:cNvPr id="3" name="Séquence de connexion" descr="Séquence de connex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37" y="1005840"/>
            <a:ext cx="4536567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Email inconnu : même réponse et même durée qu'un mauvais mot de passe.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5 échecs : compte verrouillé 15 minutes.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Succès : jeton d'accès de 15 minutes et jeton de rafraîchissement stocké haché.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Séquence : rotation du jeton de rafraîchissement</a:t>
            </a:r>
            <a:endParaRPr lang="en-US" sz="2800" dirty="0"/>
          </a:p>
        </p:txBody>
      </p:sp>
      <p:pic>
        <p:nvPicPr>
          <p:cNvPr id="3" name="Séquence de rafraîchissement" descr="Séquence de rafraîchiss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8111"/>
            <a:ext cx="5120640" cy="327877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Chaque jeton ne sert qu'une fois.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Un jeton révoqué présenté de nouveau signale un vol possible : toutes les sessions sont révoquées.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La requête protégée vérifie signature, expiration et état du compte.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Fonctionnalités et endpoints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914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Accès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Fonction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/api/auth/register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Inscription (USER ou ORGANIZER)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/api/auth/login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Connexion, renvoie les jetons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/api/auth/refresh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Rotation des jetons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/api/auth/logout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Révocation du jeton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/oauth2/authorization/{fournisseur}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Connexion Google, GitHub, Spotify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GET / PUT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/api/users/me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Bearer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Consulter, modifier son profil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/api/users/me/password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Bearer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Changer son mot de passe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/api/users/me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Bearer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Désactiver son compte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/api/admin/users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A"/>
                          </a:solidFill>
                        </a:rPr>
                        <a:t>Lister les utilisateurs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Sécurité : huit défenses</a:t>
            </a:r>
            <a:endParaRPr lang="en-US" sz="2800" dirty="0"/>
          </a:p>
        </p:txBody>
      </p:sp>
      <p:sp>
        <p:nvSpPr>
          <p:cNvPr id="3" name="card-Mots de passe"/>
          <p:cNvSpPr/>
          <p:nvPr/>
        </p:nvSpPr>
        <p:spPr>
          <a:xfrm>
            <a:off x="45720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-bg-Mots de passe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5" name="ic-Mots de passe" descr="Mots de pa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07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Mots de passe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92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BCrypt, coût 12</a:t>
            </a:r>
            <a:endParaRPr lang="en-US" sz="1200" dirty="0"/>
          </a:p>
        </p:txBody>
      </p:sp>
      <p:sp>
        <p:nvSpPr>
          <p:cNvPr id="8" name="card-Force brute"/>
          <p:cNvSpPr/>
          <p:nvPr/>
        </p:nvSpPr>
        <p:spPr>
          <a:xfrm>
            <a:off x="2532888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-bg-Force brute"/>
          <p:cNvSpPr/>
          <p:nvPr/>
        </p:nvSpPr>
        <p:spPr>
          <a:xfrm>
            <a:off x="2715768" y="132588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0" name="ic-Force brute" descr="Force br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4264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82696" y="1307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Force brute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715768" y="1892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Verrou après 5 échecs</a:t>
            </a:r>
            <a:endParaRPr lang="en-US" sz="1200" dirty="0"/>
          </a:p>
        </p:txBody>
      </p:sp>
      <p:sp>
        <p:nvSpPr>
          <p:cNvPr id="13" name="card-Énumération"/>
          <p:cNvSpPr/>
          <p:nvPr/>
        </p:nvSpPr>
        <p:spPr>
          <a:xfrm>
            <a:off x="4608576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-bg-Énumération"/>
          <p:cNvSpPr/>
          <p:nvPr/>
        </p:nvSpPr>
        <p:spPr>
          <a:xfrm>
            <a:off x="4791456" y="132588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15" name="ic-Énumération" descr="Énumé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264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58384" y="1307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Énumération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91456" y="1892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Message générique, hash factice</a:t>
            </a:r>
            <a:endParaRPr lang="en-US" sz="1200" dirty="0"/>
          </a:p>
        </p:txBody>
      </p:sp>
      <p:sp>
        <p:nvSpPr>
          <p:cNvPr id="18" name="card-Jetons"/>
          <p:cNvSpPr/>
          <p:nvPr/>
        </p:nvSpPr>
        <p:spPr>
          <a:xfrm>
            <a:off x="6684264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-bg-Jetons"/>
          <p:cNvSpPr/>
          <p:nvPr/>
        </p:nvSpPr>
        <p:spPr>
          <a:xfrm>
            <a:off x="6867144" y="132588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20" name="ic-Jetons" descr="Jet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4264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2" y="1307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Jetons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67144" y="18928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JWT HS256, 15 minutes</a:t>
            </a:r>
            <a:endParaRPr lang="en-US" sz="1200" dirty="0"/>
          </a:p>
        </p:txBody>
      </p:sp>
      <p:sp>
        <p:nvSpPr>
          <p:cNvPr id="23" name="card-Rejeu"/>
          <p:cNvSpPr/>
          <p:nvPr/>
        </p:nvSpPr>
        <p:spPr>
          <a:xfrm>
            <a:off x="45720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-bg-Rejeu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25" name="ic-Rejeu" descr="Reje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20954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07008" y="30906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Rejeu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Rotation et détection de réutilisation</a:t>
            </a:r>
            <a:endParaRPr lang="en-US" sz="1200" dirty="0"/>
          </a:p>
        </p:txBody>
      </p:sp>
      <p:sp>
        <p:nvSpPr>
          <p:cNvPr id="28" name="card-Privilèges"/>
          <p:cNvSpPr/>
          <p:nvPr/>
        </p:nvSpPr>
        <p:spPr>
          <a:xfrm>
            <a:off x="2532888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-bg-Privilèges"/>
          <p:cNvSpPr/>
          <p:nvPr/>
        </p:nvSpPr>
        <p:spPr>
          <a:xfrm>
            <a:off x="2715768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30" name="ic-Privilèges" descr="Privilèg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352" y="320954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82696" y="30906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Privilèges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715768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ADMIN interdit à l'inscription</a:t>
            </a:r>
            <a:endParaRPr lang="en-US" sz="1200" dirty="0"/>
          </a:p>
        </p:txBody>
      </p:sp>
      <p:sp>
        <p:nvSpPr>
          <p:cNvPr id="33" name="card-Injection SQL"/>
          <p:cNvSpPr/>
          <p:nvPr/>
        </p:nvSpPr>
        <p:spPr>
          <a:xfrm>
            <a:off x="4608576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c-bg-Injection SQL"/>
          <p:cNvSpPr/>
          <p:nvPr/>
        </p:nvSpPr>
        <p:spPr>
          <a:xfrm>
            <a:off x="4791456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35" name="ic-Injection SQL" descr="Injection SQ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09544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58384" y="30906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Injection SQL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791456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JPA paramétré, validation</a:t>
            </a:r>
            <a:endParaRPr lang="en-US" sz="1200" dirty="0"/>
          </a:p>
        </p:txBody>
      </p:sp>
      <p:sp>
        <p:nvSpPr>
          <p:cNvPr id="38" name="card-Fuites"/>
          <p:cNvSpPr/>
          <p:nvPr/>
        </p:nvSpPr>
        <p:spPr>
          <a:xfrm>
            <a:off x="6684264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ic-bg-Fuites"/>
          <p:cNvSpPr/>
          <p:nvPr/>
        </p:nvSpPr>
        <p:spPr>
          <a:xfrm>
            <a:off x="6867144" y="31089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40" name="ic-Fuites" descr="Fuit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209544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34072" y="30906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Fuites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867144" y="3675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</a:rPr>
              <a:t>Erreurs sans détail interne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Tests : 20 cas, dont 10 sur la sécurité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</a:rPr>
              <a:t>Outils : </a:t>
            </a:r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</a:rPr>
              <a:t>JUnit 5, MockMvc, spring-security-test, base H2 en mémoire.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2263A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</a:rPr>
              <a:t>Attaques couvertes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22860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Force brute et verrouillage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Email inconnu et énumération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Jeton falsifié ou expiré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Rejeu de jeton de rafraîchissement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Élévation de privilèges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Injection SQL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Intégrer le module dans un autre groupe</a:t>
            </a:r>
            <a:endParaRPr lang="en-US" sz="2800" dirty="0"/>
          </a:p>
        </p:txBody>
      </p:sp>
      <p:sp>
        <p:nvSpPr>
          <p:cNvPr id="3" name="int-0"/>
          <p:cNvSpPr/>
          <p:nvPr/>
        </p:nvSpPr>
        <p:spPr>
          <a:xfrm>
            <a:off x="457200" y="1143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</a:rPr>
              <a:t>1. Obtenir les jetons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100" dirty="0"/>
          </a:p>
        </p:txBody>
      </p:sp>
      <p:sp>
        <p:nvSpPr>
          <p:cNvPr id="6" name="int-1"/>
          <p:cNvSpPr/>
          <p:nvPr/>
        </p:nvSpPr>
        <p:spPr>
          <a:xfrm>
            <a:off x="2532888" y="1143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70048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</a:rPr>
              <a:t>2. Envoyer le jeton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&lt;accessToken&gt;</a:t>
            </a:r>
            <a:endParaRPr lang="en-US" sz="1100" dirty="0"/>
          </a:p>
        </p:txBody>
      </p:sp>
      <p:sp>
        <p:nvSpPr>
          <p:cNvPr id="9" name="int-2"/>
          <p:cNvSpPr/>
          <p:nvPr/>
        </p:nvSpPr>
        <p:spPr>
          <a:xfrm>
            <a:off x="4608576" y="1143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45736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</a:rPr>
              <a:t>3. Renouveler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/api/auth/refresh sur réponse 401</a:t>
            </a:r>
            <a:endParaRPr lang="en-US" sz="1100" dirty="0"/>
          </a:p>
        </p:txBody>
      </p:sp>
      <p:sp>
        <p:nvSpPr>
          <p:cNvPr id="12" name="int-3"/>
          <p:cNvSpPr/>
          <p:nvPr/>
        </p:nvSpPr>
        <p:spPr>
          <a:xfrm>
            <a:off x="6684264" y="1143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21424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</a:rPr>
              <a:t>4. Lire l'utilisateur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@Authentication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User user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</a:rPr>
              <a:t>Restreindre une route par rôle 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EF3F6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.requestMatchers("/api/events/manage/**").hasAnyRole("ORGANIZER", "ADMIN")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</a:rPr>
              <a:t>Documentation : README.md et Swagger UI (/swagger-ui.html). Sur mobile, stocker les jetons dans le Keystore ou le Keychain.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Limites et perspectives</a:t>
            </a:r>
            <a:endParaRPr lang="en-US" sz="2800" dirty="0"/>
          </a:p>
        </p:txBody>
      </p:sp>
      <p:sp>
        <p:nvSpPr>
          <p:cNvPr id="3" name="card-À réaliser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-bg-À réaliser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pic>
        <p:nvPicPr>
          <p:cNvPr id="5" name="ic-À réaliser" descr="À réali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618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À réaliser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Réinitialisation du mot de passe par email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Vérification de l'email à l'inscription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Limitation de débit par 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Création du premier administrateur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Scripts de migration de la base (production)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Double authentification</a:t>
            </a:r>
            <a:endParaRPr lang="en-US" sz="1300" dirty="0"/>
          </a:p>
        </p:txBody>
      </p:sp>
      <p:sp>
        <p:nvSpPr>
          <p:cNvPr id="8" name="card-Points de vigilance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-bg-Points de vigilanc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c-Points de vigilance" descr="Points de vigi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3807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13248" y="12618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</a:rPr>
              <a:t>Points de vigilance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4708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Jetons OAuth2 transmis dans l'URL de redirection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Messages 423 et OAuth qui révèlent un compte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Verrouillage exploitable contre un compte ciblé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Secret JWT de développement à remplacer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</a:rPr>
              <a:t>Lien profond à prévoir pour le mobile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Un module d'authentification complet, de l'analyse jusqu'à la documentation.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Les autres groupes n'ont qu'à envoyer le jeton Bearer et lire le rôle.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Des défenses concrètes contre les attaques courantes, et des limites assumées.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AE2D"/>
                </a:solidFill>
              </a:rPr>
              <a:t>Merci —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ManagerG1">
  <a:themeElements>
    <a:clrScheme name="EventManagerG1">
      <a:dk1>
        <a:srgbClr val="12263A"/>
      </a:dk1>
      <a:lt1>
        <a:srgbClr val="FFFFFF"/>
      </a:lt1>
      <a:dk2>
        <a:srgbClr val="1B6F7A"/>
      </a:dk2>
      <a:lt2>
        <a:srgbClr val="EEF3F6"/>
      </a:lt2>
      <a:accent1>
        <a:srgbClr val="1B998B"/>
      </a:accent1>
      <a:accent2>
        <a:srgbClr val="F6AE2D"/>
      </a:accent2>
      <a:accent3>
        <a:srgbClr val="E4572E"/>
      </a:accent3>
      <a:accent4>
        <a:srgbClr val="3A6EA5"/>
      </a:accent4>
      <a:accent5>
        <a:srgbClr val="6B7F8E"/>
      </a:accent5>
      <a:accent6>
        <a:srgbClr val="8FBF9F"/>
      </a:accent6>
      <a:hlink>
        <a:srgbClr val="1B6F7A"/>
      </a:hlink>
      <a:folHlink>
        <a:srgbClr val="6B7F8E"/>
      </a:folHlink>
    </a:clrScheme>
    <a:fontScheme name="EventManagerG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Manager - Groupe 1 - Utilisateurs, authentification et sécurité</dc:title>
  <dc:subject>PptxGenJS Presentation</dc:subject>
  <dc:creator>KAGHO Marie Edgard, ADAMOU</dc:creator>
  <cp:lastModifiedBy>KAGHO Marie Edgard, ADAMOU</cp:lastModifiedBy>
  <cp:revision>1</cp:revision>
  <dcterms:created xsi:type="dcterms:W3CDTF">2026-10-02T09:05:29Z</dcterms:created>
  <dcterms:modified xsi:type="dcterms:W3CDTF">2026-10-02T09:05:29Z</dcterms:modified>
</cp:coreProperties>
</file>